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8f2cacf69e6b45a1" /><Relationship Type="http://schemas.openxmlformats.org/officeDocument/2006/relationships/extended-properties" Target="/docProps/app.xml" Id="R1ff89d69f97c47c2" /><Relationship Type="http://schemas.openxmlformats.org/officeDocument/2006/relationships/officeDocument" Target="/ppt/presentation.xml" Id="R35cae253e7744883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739cd3a877aa43c1"/>
  </p:sldMasterIdLst>
  <p:notesMasterIdLst>
    <p:notesMasterId xmlns:r="http://schemas.openxmlformats.org/officeDocument/2006/relationships" r:id="Rb3b8c89a47f64938"/>
  </p:notesMasterIdLst>
  <p:sldIdLst>
    <p:sldId xmlns:r="http://schemas.openxmlformats.org/officeDocument/2006/relationships" id="256" r:id="Rfadf811362e64855"/>
    <p:sldId xmlns:r="http://schemas.openxmlformats.org/officeDocument/2006/relationships" id="257" r:id="R496a67a49de245de"/>
    <p:sldId xmlns:r="http://schemas.openxmlformats.org/officeDocument/2006/relationships" id="258" r:id="Rf60527cc992b42b7"/>
    <p:sldId xmlns:r="http://schemas.openxmlformats.org/officeDocument/2006/relationships" id="259" r:id="R91ad6bc80bf74986"/>
    <p:sldId xmlns:r="http://schemas.openxmlformats.org/officeDocument/2006/relationships" id="260" r:id="R56e25ddea1e740d0"/>
    <p:sldId xmlns:r="http://schemas.openxmlformats.org/officeDocument/2006/relationships" id="261" r:id="R1fd969b73b04473a"/>
  </p:sldIdLst>
  <p:sldSz cx="9144000" cy="51435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64cba2673d734c15" /><Relationship Type="http://schemas.openxmlformats.org/officeDocument/2006/relationships/slideMaster" Target="/ppt/slideMasters/slideMaster1.xml" Id="R739cd3a877aa43c1" /><Relationship Type="http://schemas.openxmlformats.org/officeDocument/2006/relationships/notesMaster" Target="/ppt/notesMasters/notesMaster1.xml" Id="Rb3b8c89a47f64938" /><Relationship Type="http://schemas.openxmlformats.org/officeDocument/2006/relationships/presProps" Target="/ppt/presProps.xml" Id="R3e9c149b707d4de1" /><Relationship Type="http://schemas.openxmlformats.org/officeDocument/2006/relationships/viewProps" Target="/ppt/viewProps.xml" Id="Rfa747192599e4b0c" /><Relationship Type="http://schemas.openxmlformats.org/officeDocument/2006/relationships/tableStyles" Target="/ppt/tableStyles.xml" Id="Rdf73c60770f24010" /><Relationship Type="http://schemas.openxmlformats.org/officeDocument/2006/relationships/slide" Target="/ppt/slides/slide1.xml" Id="Rfadf811362e64855" /><Relationship Type="http://schemas.openxmlformats.org/officeDocument/2006/relationships/slide" Target="/ppt/slides/slide2.xml" Id="R496a67a49de245de" /><Relationship Type="http://schemas.openxmlformats.org/officeDocument/2006/relationships/slide" Target="/ppt/slides/slide3.xml" Id="Rf60527cc992b42b7" /><Relationship Type="http://schemas.openxmlformats.org/officeDocument/2006/relationships/slide" Target="/ppt/slides/slide4.xml" Id="R91ad6bc80bf74986" /><Relationship Type="http://schemas.openxmlformats.org/officeDocument/2006/relationships/slide" Target="/ppt/slides/slide5.xml" Id="R56e25ddea1e740d0" /><Relationship Type="http://schemas.openxmlformats.org/officeDocument/2006/relationships/slide" Target="/ppt/slides/slide6.xml" Id="R1fd969b73b04473a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838c7a853e9e46d3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80169f356cd6401b" /><Relationship Type="http://schemas.openxmlformats.org/officeDocument/2006/relationships/notesMaster" Target="/ppt/notesMasters/notesMaster1.xml" Id="Reeb904caa910499a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a792ea5b80564ee7" /><Relationship Type="http://schemas.openxmlformats.org/officeDocument/2006/relationships/notesMaster" Target="/ppt/notesMasters/notesMaster1.xml" Id="R3da8c999909742ec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28fbe1e3adfb4fbd" /><Relationship Type="http://schemas.openxmlformats.org/officeDocument/2006/relationships/notesMaster" Target="/ppt/notesMasters/notesMaster1.xml" Id="R8b621be13a364677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69c587d7b3254a72" /><Relationship Type="http://schemas.openxmlformats.org/officeDocument/2006/relationships/notesMaster" Target="/ppt/notesMasters/notesMaster1.xml" Id="R3e47b63c695f4a49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70dcf2d3ef0c44a3" /><Relationship Type="http://schemas.openxmlformats.org/officeDocument/2006/relationships/notesMaster" Target="/ppt/notesMasters/notesMaster1.xml" Id="R8545d79b4f364229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071d64ebd33a4a5f" /><Relationship Type="http://schemas.openxmlformats.org/officeDocument/2006/relationships/notesMaster" Target="/ppt/notesMasters/notesMaster1.xml" Id="R1e48eb65927045c1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spec.md §1–§2</a:t>
            </a:r>
          </a:p>
          <a:p xmlns:a="http://schemas.openxmlformats.org/drawingml/2006/main">
            <a:r>
              <a:t>evidence/mining-log.md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spec.md §2</a:t>
            </a:r>
          </a:p>
          <a:p xmlns:a="http://schemas.openxmlformats.org/drawingml/2006/main">
            <a:r>
              <a:t>evidence/mining-log.md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spec.md §4–§6</a:t>
            </a:r>
          </a:p>
          <a:p xmlns:a="http://schemas.openxmlformats.org/drawingml/2006/main">
            <a:r>
              <a:t>demo-script.md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spec.md §7</a:t>
            </a:r>
          </a:p>
          <a:p xmlns:a="http://schemas.openxmlformats.org/drawingml/2006/main">
            <a:r>
              <a:t>eval/runs/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validation/feedback-log.md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validation/feedback-log.md</a:t>
            </a:r>
          </a:p>
          <a:p xmlns:a="http://schemas.openxmlformats.org/drawingml/2006/main">
            <a:r>
              <a:t>reflection/can-ma-hv-tran-huy-hoang.md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d6569f53a4447bd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77ce266e29a4678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54c34b04f9d4c5a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aa87a83261a4e95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a7d938a32564fd9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f166ba4f521435f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dbfb28c61bf4f3b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0e6ecd5e3084fbe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835edbfcd0746fb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a14a29802e44840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36599b09386494e" /></Relationships>
</file>

<file path=ppt/slideLayouts/slideLayout1.xml><?xml version="1.0" encoding="utf-8"?>
<p:sldLayout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3702E378-F67C-4A30-A003-CE4EBD2748C5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685800" y="2130425"/>
            <a:ext cx="7772400" cy="147002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AE714B2D-621E-4148-BDEC-EE1749C201CB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371600" y="3886200"/>
            <a:ext cx="6400800" cy="1752600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r>
              <a:t>Click to edit Master subtitle style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46009748-CE8D-486E-A16A-9F916E70A04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ACB8FEA1-6F77-442F-8A38-641CE5DE70CC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61DD618E-9A74-4938-BC7F-76F605F622F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3C403338-372B-4BCC-AB24-88E9E815A52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2F13162E-1595-498D-BF8C-1595099D09EC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E3A8C907-3C04-40F6-9141-62DDDBC3C450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274E05F-296A-4EAF-91D2-0C63D47981F6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418FBEE0-F776-49BA-998C-9378D84FFB9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3.xml><?xml version="1.0" encoding="utf-8"?>
<p:sldLayout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A782713-B978-4598-936F-FF3BD69BC1D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722313" y="4406900"/>
            <a:ext cx="7772400" cy="1362075"/>
          </a:xfrm>
        </p:spPr>
        <p:txBody>
          <a:bodyPr xmlns:a="http://schemas.openxmlformats.org/drawingml/2006/main" anchor="t"/>
          <a:lstStyle xmlns:a="http://schemas.openxmlformats.org/drawingml/2006/main">
            <a:lvl1pPr algn="l">
              <a:buNone/>
              <a:defRPr sz="4000" b="1" cap="all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6C718D95-54D8-4910-BBD4-A6F42169B64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722313" y="2906713"/>
            <a:ext cx="7772400" cy="1500187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1E987942-52F5-4F4C-8560-11066003A385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793A4D1-B3F6-4902-9216-3A924CA7A3AD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2A2E3B47-FB56-4D84-A2AC-F9D0877B55A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5EFE4548-906B-41A7-A7EC-C934A1BA60D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B0A154BA-44C7-49B7-974A-A49AF7440C8F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457200" y="1600200"/>
            <a:ext cx="4038600" cy="452596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C728082D-2A14-42B5-9333-0E35848D741C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648200" y="1600200"/>
            <a:ext cx="4038600" cy="452596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D78B7FA8-1A79-490E-975A-35F6352D11E2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EFE4A44B-A090-4F72-B12C-B8C9B4C0D217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FE36661E-51A3-4984-882D-1E99B7A24A7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5.xml><?xml version="1.0" encoding="utf-8"?>
<p:sldLayout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585279D1-D14E-4478-A181-910F93473CC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2818FBB7-0D5C-4AEE-9ABC-00557A2D5C2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1535113"/>
            <a:ext cx="4040188" cy="63976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97C28351-307F-48F5-AD6E-BD622E52B5B3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57200" y="2174875"/>
            <a:ext cx="4040188" cy="3951288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9980A346-B052-4C2C-9BCF-2FDE8B4A9226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4645025" y="1535113"/>
            <a:ext cx="4041775" cy="63976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C3C1FCCF-0BA3-41A7-83C6-895DAAA39776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4645025" y="2174875"/>
            <a:ext cx="4041775" cy="3951288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7" name="Date Placeholder 6">
            <a:extLst xmlns:a="http://schemas.openxmlformats.org/drawingml/2006/main">
              <a:ext uri="{FF2B5EF4-FFF2-40B4-BE49-F238E27FC236}">
                <a16:creationId xmlns:a16="http://schemas.microsoft.com/office/drawing/2014/main" id="{CAC67A38-7131-4439-9297-7ED8F7C5196E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8" name="Footer Placeholder 7">
            <a:extLst xmlns:a="http://schemas.openxmlformats.org/drawingml/2006/main">
              <a:ext uri="{FF2B5EF4-FFF2-40B4-BE49-F238E27FC236}">
                <a16:creationId xmlns:a16="http://schemas.microsoft.com/office/drawing/2014/main" id="{95698E66-0823-4B8C-BCE9-AAEB9CCFACC8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D44AE560-CB48-4526-80C4-41DBC1F2FF6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6.xml><?xml version="1.0" encoding="utf-8"?>
<p:sldLayout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93CCA076-7F8C-4E9A-BD91-CF08EC92284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Date Placeholder 2">
            <a:extLst xmlns:a="http://schemas.openxmlformats.org/drawingml/2006/main">
              <a:ext uri="{FF2B5EF4-FFF2-40B4-BE49-F238E27FC236}">
                <a16:creationId xmlns:a16="http://schemas.microsoft.com/office/drawing/2014/main" id="{DB7BC71C-9517-4499-8D1C-176C60AA484D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4" name="Footer Placeholder 3">
            <a:extLst xmlns:a="http://schemas.openxmlformats.org/drawingml/2006/main">
              <a:ext uri="{FF2B5EF4-FFF2-40B4-BE49-F238E27FC236}">
                <a16:creationId xmlns:a16="http://schemas.microsoft.com/office/drawing/2014/main" id="{049771E4-1578-465B-AA01-59938CDF6F3B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F4F9DE3F-5B6C-4A70-8102-9E190CBCCBF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Date Placeholder 1">
            <a:extLst xmlns:a="http://schemas.openxmlformats.org/drawingml/2006/main">
              <a:ext uri="{FF2B5EF4-FFF2-40B4-BE49-F238E27FC236}">
                <a16:creationId xmlns:a16="http://schemas.microsoft.com/office/drawing/2014/main" id="{96FA4A2E-2A15-48CB-AF0B-FFF5EB2AA6FB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3" name="Footer Placeholder 2">
            <a:extLst xmlns:a="http://schemas.openxmlformats.org/drawingml/2006/main">
              <a:ext uri="{FF2B5EF4-FFF2-40B4-BE49-F238E27FC236}">
                <a16:creationId xmlns:a16="http://schemas.microsoft.com/office/drawing/2014/main" id="{F17C36C9-160F-438D-9341-0938C09B83D4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83F08BA2-8F4E-49A0-8C6F-642E4B3372B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8.xml><?xml version="1.0" encoding="utf-8"?>
<p:sldLayout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FB31286-9259-41BC-9E4F-1E4A0290A98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7200" y="273050"/>
            <a:ext cx="3008313" cy="1162050"/>
          </a:xfrm>
        </p:spPr>
        <p:txBody>
          <a:bodyPr xmlns:a="http://schemas.openxmlformats.org/drawingml/2006/main" anchor="b"/>
          <a:lstStyle xmlns:a="http://schemas.openxmlformats.org/drawingml/2006/main">
            <a:lvl1pPr algn="l">
              <a:buNone/>
              <a:defRPr sz="2000" b="1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857D7989-D388-4782-B843-A72E91F3B4AA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575050" y="273050"/>
            <a:ext cx="5111750" cy="585311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D9CF4DFA-F0FE-4F8E-8A3C-3556BF12FEE0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457200" y="1435100"/>
            <a:ext cx="3008313" cy="4691063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FBFF4500-8A65-431F-9373-A6A04F010D01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2512AB40-5A33-4A68-B975-1108949B7E6D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41B62ECE-FD11-4323-9D49-F480C5FBBAF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9.xml><?xml version="1.0" encoding="utf-8"?>
<p:sldLayout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22ADAECE-D8E9-4953-B9E0-F565949237C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792288" y="4800600"/>
            <a:ext cx="5486400" cy="566738"/>
          </a:xfrm>
        </p:spPr>
        <p:txBody>
          <a:bodyPr xmlns:a="http://schemas.openxmlformats.org/drawingml/2006/main" anchor="b"/>
          <a:lstStyle xmlns:a="http://schemas.openxmlformats.org/drawingml/2006/main">
            <a:lvl1pPr algn="l">
              <a:buNone/>
              <a:defRPr sz="2000" b="1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5DAF6C0F-66AF-45E3-B972-DC624D129089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1792288" y="612775"/>
            <a:ext cx="5486400" cy="4114800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/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8CB274F-D049-4724-890C-B43E9DC3FDFA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1792288" y="5367338"/>
            <a:ext cx="5486400" cy="804862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5220E22E-85AF-43D4-9F4A-D9D219CD7877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438B22F9-C8DD-42A6-8ACD-54032773F6CE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AE157BD9-0244-4BA4-8D3B-01C121EB863D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10.xml><?xml version="1.0" encoding="utf-8"?>
<p:sldLayout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C89A93FA-0FB6-4104-AA38-2F2D586FD36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5B68EEAF-146D-46F8-8089-7B3534888DE6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E51313D2-6D5D-48E4-B2B4-6B39B1B539B3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DBAB5410-85CE-46B7-949F-F3584C88048E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C0BA5852-D2DE-49D9-81C0-8F4A442BABB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11.xml><?xml version="1.0" encoding="utf-8"?>
<p:sldLayout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88496F9F-72E9-4BC8-9C81-52B09409142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629400" y="274638"/>
            <a:ext cx="2057400" cy="5851525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CB551828-3980-4ABF-A887-22A059AF312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274638"/>
            <a:ext cx="6019800" cy="5851525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C322D2A5-6CA6-4195-A36A-3613C758316A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159FB00B-D1A9-4271-BCB7-8DD7F2D28DB8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6CE554CC-E6D7-4405-B22B-D8963400B7FF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6347eaeaa21c4734" /><Relationship Type="http://schemas.openxmlformats.org/officeDocument/2006/relationships/slideLayout" Target="/ppt/slideLayouts/slideLayout1.xml" Id="R4b09143f4a5644ff" /><Relationship Type="http://schemas.openxmlformats.org/officeDocument/2006/relationships/slideLayout" Target="/ppt/slideLayouts/slideLayout2.xml" Id="R66a5565bfb944e07" /><Relationship Type="http://schemas.openxmlformats.org/officeDocument/2006/relationships/slideLayout" Target="/ppt/slideLayouts/slideLayout3.xml" Id="Re7e8df8c0933432e" /><Relationship Type="http://schemas.openxmlformats.org/officeDocument/2006/relationships/slideLayout" Target="/ppt/slideLayouts/slideLayout4.xml" Id="R591c1f9326374bd2" /><Relationship Type="http://schemas.openxmlformats.org/officeDocument/2006/relationships/slideLayout" Target="/ppt/slideLayouts/slideLayout5.xml" Id="Rb2032175d42b45b9" /><Relationship Type="http://schemas.openxmlformats.org/officeDocument/2006/relationships/slideLayout" Target="/ppt/slideLayouts/slideLayout6.xml" Id="R004bd180c27f48fc" /><Relationship Type="http://schemas.openxmlformats.org/officeDocument/2006/relationships/slideLayout" Target="/ppt/slideLayouts/slideLayout7.xml" Id="R547f2e1dfbda4de4" /><Relationship Type="http://schemas.openxmlformats.org/officeDocument/2006/relationships/slideLayout" Target="/ppt/slideLayouts/slideLayout8.xml" Id="Rcdd305171af64011" /><Relationship Type="http://schemas.openxmlformats.org/officeDocument/2006/relationships/slideLayout" Target="/ppt/slideLayouts/slideLayout9.xml" Id="Rb892495c49d440b3" /><Relationship Type="http://schemas.openxmlformats.org/officeDocument/2006/relationships/slideLayout" Target="/ppt/slideLayouts/slideLayout10.xml" Id="Rf10c573209f44200" /><Relationship Type="http://schemas.openxmlformats.org/officeDocument/2006/relationships/slideLayout" Target="/ppt/slideLayouts/slideLayout11.xml" Id="R9180687c7f254cf8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4FBEA47B-330D-421D-A964-385A201F201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7200" y="274638"/>
            <a:ext cx="8229600" cy="1143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077C2D65-B4EB-4A47-BD35-4A4DEA13C02B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1600200"/>
            <a:ext cx="8229600" cy="45259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5754F9A7-B313-48E2-90D2-C8C172A37645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457200" y="6356350"/>
            <a:ext cx="2133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8D529A0-B80D-4A4D-AB10-EE3039407458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124200" y="6356350"/>
            <a:ext cx="2895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5E259E8B-1BAF-452F-A846-70A414D6DFB9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6553200" y="6356350"/>
            <a:ext cx="2133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4b09143f4a5644ff"/>
    <p:sldLayoutId xmlns:r="http://schemas.openxmlformats.org/officeDocument/2006/relationships" id="2147483650" r:id="R66a5565bfb944e07"/>
    <p:sldLayoutId xmlns:r="http://schemas.openxmlformats.org/officeDocument/2006/relationships" id="2147483651" r:id="Re7e8df8c0933432e"/>
    <p:sldLayoutId xmlns:r="http://schemas.openxmlformats.org/officeDocument/2006/relationships" id="2147483652" r:id="R591c1f9326374bd2"/>
    <p:sldLayoutId xmlns:r="http://schemas.openxmlformats.org/officeDocument/2006/relationships" id="2147483653" r:id="Rb2032175d42b45b9"/>
    <p:sldLayoutId xmlns:r="http://schemas.openxmlformats.org/officeDocument/2006/relationships" id="2147483654" r:id="R004bd180c27f48fc"/>
    <p:sldLayoutId xmlns:r="http://schemas.openxmlformats.org/officeDocument/2006/relationships" id="2147483655" r:id="R547f2e1dfbda4de4"/>
    <p:sldLayoutId xmlns:r="http://schemas.openxmlformats.org/officeDocument/2006/relationships" id="2147483656" r:id="Rcdd305171af64011"/>
    <p:sldLayoutId xmlns:r="http://schemas.openxmlformats.org/officeDocument/2006/relationships" id="2147483657" r:id="Rb892495c49d440b3"/>
    <p:sldLayoutId xmlns:r="http://schemas.openxmlformats.org/officeDocument/2006/relationships" id="2147483658" r:id="Rf10c573209f44200"/>
    <p:sldLayoutId xmlns:r="http://schemas.openxmlformats.org/officeDocument/2006/relationships" id="2147483659" r:id="R9180687c7f254cf8"/>
  </p:sldLayoutIdLst>
  <p:txStyles>
    <p:titleStyle>
      <a:lvl1pPr xmlns:a="http://schemas.openxmlformats.org/drawingml/2006/main" algn="ctr" defTabSz="4572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342900" indent="-342900" algn="l" defTabSz="4572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742950" indent="-285750" algn="l" defTabSz="4572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4572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4572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4572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a449bb5829454aaf" /><Relationship Type="http://schemas.openxmlformats.org/officeDocument/2006/relationships/notesSlide" Target="/ppt/notesSlides/notesSlide1.xml" Id="R704555a901164986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93e1e7fbd2c64d25" /><Relationship Type="http://schemas.openxmlformats.org/officeDocument/2006/relationships/notesSlide" Target="/ppt/notesSlides/notesSlide2.xml" Id="R8f92f795713b4235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571019aeda59416a" /><Relationship Type="http://schemas.openxmlformats.org/officeDocument/2006/relationships/notesSlide" Target="/ppt/notesSlides/notesSlide3.xml" Id="R36e2a7df7993413f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10c218eaff1b4e76" /><Relationship Type="http://schemas.openxmlformats.org/officeDocument/2006/relationships/notesSlide" Target="/ppt/notesSlides/notesSlide4.xml" Id="Rf59f2fbf2dd04f87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3e5b908110214f89" /><Relationship Type="http://schemas.openxmlformats.org/officeDocument/2006/relationships/notesSlide" Target="/ppt/notesSlides/notesSlide5.xml" Id="R812c4fe1efea42ac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3f09e6b2678b46a4" /><Relationship Type="http://schemas.openxmlformats.org/officeDocument/2006/relationships/notesSlide" Target="/ppt/notesSlides/notesSlide6.xml" Id="Rbf4aaeabf23a45c6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2809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A6BC4CD6-D878-4297-A0FA-AB8C7561AE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57200"/>
            <a:ext cx="8229600" cy="762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>
            <a:spAutoFit/>
          </a:bodyPr>
          <a:lstStyle xmlns:a="http://schemas.openxmlformats.org/drawingml/2006/main"/>
          <a:p xmlns:a="http://schemas.openxmlformats.org/drawingml/2006/main">
            <a:pPr>
              <a:buNone/>
              <a:defRPr sz="4400" b="1">
                <a:solidFill>
                  <a:srgbClr val="FFFFFF"/>
                </a:solidFill>
              </a:defRPr>
            </a:pPr>
            <a:r>
              <a:t>User &amp; Job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E3F50C68-69E0-4585-9156-442B7B3DF4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371600"/>
            <a:ext cx="82296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>
            <a:spAutoFit/>
          </a:bodyPr>
          <a:lstStyle xmlns:a="http://schemas.openxmlformats.org/drawingml/2006/main"/>
          <a:p xmlns:a="http://schemas.openxmlformats.org/drawingml/2006/main">
            <a:r>
              <a:rPr sz="1800" b="1">
                <a:solidFill>
                  <a:srgbClr val="FFFFFF"/>
                </a:solidFill>
              </a:rPr>
              <a:t>Job executor: Học viên vừa học xong một phần slide trong VLearn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FB65745E-C749-4173-AAFD-84A0AD278D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011680"/>
            <a:ext cx="8229600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>
            <a:spAutoFit/>
          </a:bodyPr>
          <a:lstStyle xmlns:a="http://schemas.openxmlformats.org/drawingml/2006/main"/>
          <a:p xmlns:a="http://schemas.openxmlformats.org/drawingml/2006/main">
            <a:r>
              <a:rPr sz="1800" b="1">
                <a:solidFill>
                  <a:srgbClr val="FFFFFF"/>
                </a:solidFill>
              </a:rPr>
              <a:t>Core JTBD: Kiểm tra mình còn nhớ đúng ý chính nào trước khi chuyển sang nội dung tiếp theo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25851B91-F5DA-4F0A-B318-37474ACAD1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926080"/>
            <a:ext cx="82296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>
            <a:spAutoFit/>
          </a:bodyPr>
          <a:lstStyle xmlns:a="http://schemas.openxmlformats.org/drawingml/2006/main"/>
          <a:p xmlns:a="http://schemas.openxmlformats.org/drawingml/2006/main">
            <a:pPr>
              <a:buNone/>
              <a:defRPr sz="2400" b="1">
                <a:solidFill>
                  <a:srgbClr val="FFFFFF"/>
                </a:solidFill>
              </a:defRPr>
            </a:pPr>
            <a:r>
              <a:t>Evidence: nhu cầu cần câu trả lời có căn cứ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E0079A9A-655E-4B81-88A5-2328257A6E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474720"/>
            <a:ext cx="8229600" cy="1371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>
            <a:spAutoFit/>
          </a:bodyPr>
          <a:lstStyle xmlns:a="http://schemas.openxmlformats.org/drawingml/2006/main"/>
          <a:p xmlns:a="http://schemas.openxmlformats.org/drawingml/2006/main">
            <a:pPr>
              <a:buNone/>
              <a:defRPr sz="1400">
                <a:solidFill>
                  <a:srgbClr val="FFFFFF"/>
                </a:solidFill>
              </a:defRPr>
            </a:pPr>
            <a:r>
              <a:t>DATA PACK: 369 user · 1.261 lượt hỏi · 585 hội thoại
ÔN / GIẢI THÍCH: 326 user · 1.074 lượt review_concept
448 lượt (41,7%) thiếu citation → phải tự dò lại slide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6035DDEF-4EB0-4F90-847A-BFC92CCFA5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663440"/>
            <a:ext cx="82296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>
            <a:spAutoFit/>
          </a:bodyPr>
          <a:lstStyle xmlns:a="http://schemas.openxmlformats.org/drawingml/2006/main"/>
          <a:p xmlns:a="http://schemas.openxmlformats.org/drawingml/2006/main">
            <a:pPr>
              <a:buNone/>
              <a:defRPr sz="1000" i="1">
                <a:solidFill>
                  <a:srgbClr val="F3F4F6"/>
                </a:solidFill>
              </a:defRPr>
            </a:pPr>
            <a:r>
              <a:t>Nguồn: evidence/mining-log.md · phương pháp đếm có thể chạy lại</a:t>
            </a:r>
          </a:p>
        </p:txBody>
      </p:sp>
    </p:spTree>
    <p:extLst>
      <p:ext uri="{BB962C8B-B14F-4D97-AF65-F5344CB8AC3E}">
        <p14:creationId xmlns:p14="http://schemas.microsoft.com/office/powerpoint/2010/main" val="747335626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BCBC18B5-5731-4198-9779-C526761DBD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57200"/>
            <a:ext cx="822960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>
            <a:spAutoFit/>
          </a:bodyPr>
          <a:lstStyle xmlns:a="http://schemas.openxmlformats.org/drawingml/2006/main"/>
          <a:p xmlns:a="http://schemas.openxmlformats.org/drawingml/2006/main">
            <a:pPr>
              <a:buNone/>
              <a:defRPr sz="3600" b="1">
                <a:solidFill>
                  <a:srgbClr val="212121"/>
                </a:solidFill>
              </a:defRPr>
            </a:pPr>
            <a:r>
              <a:t>Vì sao chọn quiz từ slide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EAC3D0D1-9C55-440F-B9F6-FF59C66F99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188720"/>
            <a:ext cx="8229600" cy="3962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>
            <a:spAutoFit/>
          </a:bodyPr>
          <a:lstStyle xmlns:a="http://schemas.openxmlformats.org/drawingml/2006/main"/>
          <a:p xmlns:a="http://schemas.openxmlformats.org/drawingml/2006/main">
            <a:pPr>
              <a:buNone/>
              <a:defRPr sz="2000" b="1">
                <a:solidFill>
                  <a:srgbClr val="028090"/>
                </a:solidFill>
              </a:defRPr>
            </a:pPr>
            <a:r>
              <a:t>So sánh impact bằng dữ liệu thật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E76AFB7F-2A72-4797-AA75-B36DF9026E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737360"/>
            <a:ext cx="8229600" cy="2560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>
            <a:spAutoFit/>
          </a:bodyPr>
          <a:lstStyle xmlns:a="http://schemas.openxmlformats.org/drawingml/2006/main"/>
          <a:p xmlns:a="http://schemas.openxmlformats.org/drawingml/2006/main">
            <a:pPr>
              <a:buNone/>
              <a:defRPr sz="1200">
                <a:solidFill>
                  <a:srgbClr val="212121"/>
                </a:solidFill>
              </a:defRPr>
            </a:pPr>
            <a:r>
              <a:t>QUIZ TỪ SLIDE — CHỌN
326 user · 1.074 lượt · 41,7% thiếu nguồn
Output hẹp, có source và đo được
TÓM TẮT TOÀN BÀI — LOẠI
98 user · 134 lượt · độ phủ thấp hơn
XÂY LẠI AI TUTOR — LOẠI
369 user · 1.261 lượt · đã tồn tại, phạm vi quá rộng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0B63E5CD-A782-4FE9-A7CC-E816E12FFD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663440"/>
            <a:ext cx="82296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>
            <a:spAutoFit/>
          </a:bodyPr>
          <a:lstStyle xmlns:a="http://schemas.openxmlformats.org/drawingml/2006/main"/>
          <a:p xmlns:a="http://schemas.openxmlformats.org/drawingml/2006/main">
            <a:pPr>
              <a:buNone/>
              <a:defRPr sz="1000" i="1">
                <a:solidFill>
                  <a:srgbClr val="6B7280"/>
                </a:solidFill>
              </a:defRPr>
            </a:pPr>
            <a:r>
              <a:t>Nguồn: spec.md §2 · evidence/mining-log.md</a:t>
            </a:r>
          </a:p>
        </p:txBody>
      </p:sp>
    </p:spTree>
    <p:extLst>
      <p:ext uri="{BB962C8B-B14F-4D97-AF65-F5344CB8AC3E}">
        <p14:creationId xmlns:p14="http://schemas.microsoft.com/office/powerpoint/2010/main" val="1766362150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4F284E8D-296C-4837-BB08-8BD5A23C90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57200"/>
            <a:ext cx="822960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>
            <a:spAutoFit/>
          </a:bodyPr>
          <a:lstStyle xmlns:a="http://schemas.openxmlformats.org/drawingml/2006/main"/>
          <a:p xmlns:a="http://schemas.openxmlformats.org/drawingml/2006/main">
            <a:pPr>
              <a:buNone/>
              <a:defRPr sz="3600" b="1">
                <a:solidFill>
                  <a:srgbClr val="212121"/>
                </a:solidFill>
              </a:defRPr>
            </a:pPr>
            <a:r>
              <a:t>Một luồng học, hai đường demo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08A09A58-B49E-45F6-8ECE-C87ABEFC08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188720"/>
            <a:ext cx="36576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>
            <a:spAutoFit/>
          </a:bodyPr>
          <a:lstStyle xmlns:a="http://schemas.openxmlformats.org/drawingml/2006/main"/>
          <a:p xmlns:a="http://schemas.openxmlformats.org/drawingml/2006/main">
            <a:pPr>
              <a:buNone/>
              <a:defRPr sz="1600" b="1">
                <a:solidFill>
                  <a:srgbClr val="028090"/>
                </a:solidFill>
              </a:defRPr>
            </a:pPr>
            <a:r>
              <a:t>Lát cắt trong VLearn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91FD3F66-31F5-47D6-AC20-DE8852333E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645920"/>
            <a:ext cx="3657600" cy="10972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>
            <a:spAutoFit/>
          </a:bodyPr>
          <a:lstStyle xmlns:a="http://schemas.openxmlformats.org/drawingml/2006/main"/>
          <a:p xmlns:a="http://schemas.openxmlformats.org/drawingml/2006/main">
            <a:pPr>
              <a:buNone/>
              <a:defRPr sz="1400">
                <a:solidFill>
                  <a:srgbClr val="212121"/>
                </a:solidFill>
              </a:defRPr>
            </a:pPr>
            <a:r>
              <a:t>Học viên chọn 4, 6 hoặc 8 câu → AI kiểm tra nguồn → tạo MCQ → làm bài → xem đáp án kèm excerpt từ slide.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2940D4AC-2A6A-4F5E-B9C1-EBBE36F72B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834640"/>
            <a:ext cx="36576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>
            <a:spAutoFit/>
          </a:bodyPr>
          <a:lstStyle xmlns:a="http://schemas.openxmlformats.org/drawingml/2006/main"/>
          <a:p xmlns:a="http://schemas.openxmlformats.org/drawingml/2006/main">
            <a:pPr>
              <a:buNone/>
              <a:defRPr sz="1600" b="1">
                <a:solidFill>
                  <a:srgbClr val="028090"/>
                </a:solidFill>
              </a:defRPr>
            </a:pPr>
            <a:r>
              <a:t>Conditional automation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011B7954-EC35-4EA2-A024-A4395FEAAD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291840"/>
            <a:ext cx="3657600" cy="1371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>
            <a:spAutoFit/>
          </a:bodyPr>
          <a:lstStyle xmlns:a="http://schemas.openxmlformats.org/drawingml/2006/main"/>
          <a:p xmlns:a="http://schemas.openxmlformats.org/drawingml/2006/main">
            <a:pPr>
              <a:buNone/>
              <a:defRPr sz="1400">
                <a:solidFill>
                  <a:srgbClr val="212121"/>
                </a:solidFill>
              </a:defRPr>
            </a:pPr>
            <a:r>
              <a:t>Đủ căn cứ → tạo đúng số câu + excerpt.
Thiếu hoặc mâu thuẫn → từ chối có lý do.
Cost-of-error: học viên ghi nhớ sai.</a:t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E1B52B4C-33D1-4B0D-81A0-ED9D65DF0E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54880" y="1188720"/>
            <a:ext cx="3931920" cy="34747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4F6"/>
          </a:solidFill>
          <a:ln xmlns:a="http://schemas.openxmlformats.org/drawingml/2006/main" w="12700">
            <a:solidFill>
              <a:srgbClr val="6B7280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71EE8809-4B9D-4CFC-8DBF-F737CD75C7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54880" y="2286000"/>
            <a:ext cx="3931920" cy="11582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>
            <a:spAutoFit/>
          </a:bodyPr>
          <a:lstStyle xmlns:a="http://schemas.openxmlformats.org/drawingml/2006/main"/>
          <a:p xmlns:a="http://schemas.openxmlformats.org/drawingml/2006/main">
            <a:pPr>
              <a:buNone/>
              <a:defRPr sz="1400">
                <a:solidFill>
                  <a:srgbClr val="6B7280"/>
                </a:solidFill>
              </a:defRPr>
            </a:pPr>
            <a:r>
              <a:t>DEMO LIVE
1  Happy path: / → tạo, làm, xem nguồn
2  Case khó: ?demoScenario=insufficient
   Từ chối có lý do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24A7CA93-0D3E-4D61-8F88-41E070921B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663440"/>
            <a:ext cx="82296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>
            <a:spAutoFit/>
          </a:bodyPr>
          <a:lstStyle xmlns:a="http://schemas.openxmlformats.org/drawingml/2006/main"/>
          <a:p xmlns:a="http://schemas.openxmlformats.org/drawingml/2006/main">
            <a:pPr>
              <a:buNone/>
              <a:defRPr sz="1000" i="1">
                <a:solidFill>
                  <a:srgbClr val="6B7280"/>
                </a:solidFill>
              </a:defRPr>
            </a:pPr>
            <a:r>
              <a:t>spec.md §4–§6</a:t>
            </a:r>
          </a:p>
        </p:txBody>
      </p:sp>
    </p:spTree>
    <p:extLst>
      <p:ext uri="{BB962C8B-B14F-4D97-AF65-F5344CB8AC3E}">
        <p14:creationId xmlns:p14="http://schemas.microsoft.com/office/powerpoint/2010/main" val="1815649363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F00F3C67-49E8-4695-8057-A96A95FC16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57200"/>
            <a:ext cx="822960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>
            <a:spAutoFit/>
          </a:bodyPr>
          <a:lstStyle xmlns:a="http://schemas.openxmlformats.org/drawingml/2006/main"/>
          <a:p xmlns:a="http://schemas.openxmlformats.org/drawingml/2006/main">
            <a:pPr>
              <a:buNone/>
              <a:defRPr sz="3600" b="1">
                <a:solidFill>
                  <a:srgbClr val="212121"/>
                </a:solidFill>
              </a:defRPr>
            </a:pPr>
            <a:r>
              <a:t>Đo trước, sửa sau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067BABF6-66A6-4E63-8759-54D4E785D6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188720"/>
            <a:ext cx="41148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>
            <a:spAutoFit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028090"/>
                </a:solidFill>
              </a:defRPr>
            </a:pPr>
            <a:r>
              <a:t>Quality bar chốt trước khi chạy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01C42D71-3C7E-4515-9B8F-F9C005FEB0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645920"/>
            <a:ext cx="4114800" cy="914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>
            <a:spAutoFit/>
          </a:bodyPr>
          <a:lstStyle xmlns:a="http://schemas.openxmlformats.org/drawingml/2006/main"/>
          <a:p xmlns:a="http://schemas.openxmlformats.org/drawingml/2006/main">
            <a:pPr>
              <a:buNone/>
              <a:defRPr sz="1400">
                <a:solidFill>
                  <a:srgbClr val="212121"/>
                </a:solidFill>
              </a:defRPr>
            </a:pPr>
            <a:r>
              <a:t>≥80% toàn bộ 22 case
100% source_of_truth + domain_harm
0 câu ready thiếu excerpt nguyên văn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4DC8833D-00A6-411D-B309-D7BCC652D5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743200"/>
            <a:ext cx="41148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>
            <a:spAutoFit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028090"/>
                </a:solidFill>
              </a:defRPr>
            </a:pPr>
            <a:r>
              <a:t>Kết quả thực tế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71108D5C-A8F4-42A5-9DA8-F5419CA9EC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200400"/>
            <a:ext cx="4114800" cy="914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>
            <a:spAutoFit/>
          </a:bodyPr>
          <a:lstStyle xmlns:a="http://schemas.openxmlformats.org/drawingml/2006/main"/>
          <a:p xmlns:a="http://schemas.openxmlformats.org/drawingml/2006/main">
            <a:pPr>
              <a:buNone/>
              <a:defRPr sz="1400">
                <a:solidFill>
                  <a:srgbClr val="212121"/>
                </a:solidFill>
              </a:defRPr>
            </a:pPr>
            <a:r>
              <a:t>BASELINE  11/22 · 50% · CHƯA ĐẠT
CHÍNH THỨC  22/22 · 100% · ĐẠT</a:t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65A3201C-8DB7-4CDE-BD73-2F70E60D6C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1188720"/>
            <a:ext cx="3657600" cy="3200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4F6"/>
          </a:solidFill>
          <a:ln xmlns:a="http://schemas.openxmlformats.org/drawingml/2006/main" w="12700">
            <a:solidFill>
              <a:srgbClr val="6B7280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0BE522B8-7C16-4A8D-BBFA-59501BD043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2080" y="1371600"/>
            <a:ext cx="329184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>
            <a:spAutoFit/>
          </a:bodyPr>
          <a:lstStyle xmlns:a="http://schemas.openxmlformats.org/drawingml/2006/main"/>
          <a:p xmlns:a="http://schemas.openxmlformats.org/drawingml/2006/main">
            <a:pPr>
              <a:buNone/>
              <a:defRPr sz="1600" b="1">
                <a:solidFill>
                  <a:srgbClr val="028090"/>
                </a:solidFill>
              </a:defRPr>
            </a:pPr>
            <a:r>
              <a:t>Failure đáng kể nhất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C9791B25-B6C4-4B73-988A-5E3239E5CA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2080" y="1828800"/>
            <a:ext cx="3291840" cy="2286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>
            <a:spAutoFit/>
          </a:bodyPr>
          <a:lstStyle xmlns:a="http://schemas.openxmlformats.org/drawingml/2006/main"/>
          <a:p xmlns:a="http://schemas.openxmlformats.org/drawingml/2006/main">
            <a:pPr>
              <a:buNone/>
              <a:defRPr sz="1300">
                <a:solidFill>
                  <a:srgbClr val="212121"/>
                </a:solidFill>
              </a:defRPr>
            </a:pPr>
            <a:r>
              <a:t>10 lỗi parse JSON + 1 decision sai
Nguyên nhân: output contract chưa ổn định.
Cách sửa: JSON schema + response healing + validation chặt; chạy lại đủ 22 case, không hạ quality bar.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2774C81B-DEA7-4C6B-89AD-8F6A0CC063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663440"/>
            <a:ext cx="82296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>
            <a:spAutoFit/>
          </a:bodyPr>
          <a:lstStyle xmlns:a="http://schemas.openxmlformats.org/drawingml/2006/main"/>
          <a:p xmlns:a="http://schemas.openxmlformats.org/drawingml/2006/main">
            <a:pPr>
              <a:buNone/>
              <a:defRPr sz="1000" i="1">
                <a:solidFill>
                  <a:srgbClr val="6B7280"/>
                </a:solidFill>
              </a:defRPr>
            </a:pPr>
            <a:r>
              <a:t>Nguồn: spec.md §7 · eval/runs/ · ghi nhận đủ cả case fail</a:t>
            </a:r>
          </a:p>
        </p:txBody>
      </p:sp>
    </p:spTree>
    <p:extLst>
      <p:ext uri="{BB962C8B-B14F-4D97-AF65-F5344CB8AC3E}">
        <p14:creationId xmlns:p14="http://schemas.microsoft.com/office/powerpoint/2010/main" val="1351210923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967D9F6B-D945-49A6-BB54-3722374235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57200"/>
            <a:ext cx="822960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>
            <a:spAutoFit/>
          </a:bodyPr>
          <a:lstStyle xmlns:a="http://schemas.openxmlformats.org/drawingml/2006/main"/>
          <a:p xmlns:a="http://schemas.openxmlformats.org/drawingml/2006/main">
            <a:pPr>
              <a:buNone/>
              <a:defRPr sz="3600" b="1">
                <a:solidFill>
                  <a:srgbClr val="212121"/>
                </a:solidFill>
              </a:defRPr>
            </a:pPr>
            <a:r>
              <a:t>5 người thật đã giúp nhóm sửa gì?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B501B5C1-4AB0-494B-8E88-4C805EC8E7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188720"/>
            <a:ext cx="3931920" cy="1371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4F6"/>
          </a:solidFill>
          <a:ln xmlns:a="http://schemas.openxmlformats.org/drawingml/2006/main" w="12700">
            <a:solidFill>
              <a:srgbClr val="028090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BEE2D29E-6AEF-4C89-A746-88AA201076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371600"/>
            <a:ext cx="3566160" cy="10058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>
            <a:spAutoFit/>
          </a:bodyPr>
          <a:lstStyle xmlns:a="http://schemas.openxmlformats.org/drawingml/2006/main"/>
          <a:p xmlns:a="http://schemas.openxmlformats.org/drawingml/2006/main">
            <a:pPr>
              <a:buNone/>
              <a:defRPr sz="1300">
                <a:solidFill>
                  <a:srgbClr val="212121"/>
                </a:solidFill>
              </a:defRPr>
            </a:pPr>
            <a:r>
              <a:t>“Lúc thì AI trả lời thành đoạn văn, lúc lại chia nhiều gạch đầu dòng nên mình thấy hơi rối.”
— Bùi Hữu Nghĩa · Học viên K3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17BA4C38-93B6-411D-BD8F-5BD5C2E920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54880" y="1188720"/>
            <a:ext cx="3931920" cy="1371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4F6"/>
          </a:solidFill>
          <a:ln xmlns:a="http://schemas.openxmlformats.org/drawingml/2006/main" w="12700">
            <a:solidFill>
              <a:srgbClr val="028090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55A0590C-55F1-457E-802C-D1F34483D9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7760" y="1371600"/>
            <a:ext cx="3566160" cy="10058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>
            <a:spAutoFit/>
          </a:bodyPr>
          <a:lstStyle xmlns:a="http://schemas.openxmlformats.org/drawingml/2006/main"/>
          <a:p xmlns:a="http://schemas.openxmlformats.org/drawingml/2006/main">
            <a:pPr>
              <a:buNone/>
              <a:defRPr sz="1300">
                <a:solidFill>
                  <a:srgbClr val="212121"/>
                </a:solidFill>
              </a:defRPr>
            </a:pPr>
            <a:r>
              <a:t>“Mình muốn những gì nhập trong ô này phải được ưu tiên khi tạo quiz.”
— Hà Nhật Khánh Duy · Học viên K3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FFFE486A-8876-42FA-B4FA-4C0FA58BD2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834640"/>
            <a:ext cx="8229600" cy="3962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>
            <a:spAutoFit/>
          </a:bodyPr>
          <a:lstStyle xmlns:a="http://schemas.openxmlformats.org/drawingml/2006/main"/>
          <a:p xmlns:a="http://schemas.openxmlformats.org/drawingml/2006/main">
            <a:pPr>
              <a:buNone/>
              <a:defRPr sz="2000" b="1">
                <a:solidFill>
                  <a:srgbClr val="028090"/>
                </a:solidFill>
              </a:defRPr>
            </a:pPr>
            <a:r>
              <a:t>Hai thay đổi đã chốt và retest đạt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CD52504B-6479-44B3-A834-D6B2522C67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291840"/>
            <a:ext cx="8229600" cy="1371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>
            <a:spAutoFit/>
          </a:bodyPr>
          <a:lstStyle xmlns:a="http://schemas.openxmlformats.org/drawingml/2006/main"/>
          <a:p xmlns:a="http://schemas.openxmlformats.org/drawingml/2006/main">
            <a:pPr>
              <a:buNone/>
              <a:defRPr sz="1300">
                <a:solidFill>
                  <a:srgbClr val="212121"/>
                </a:solidFill>
              </a:defRPr>
            </a:pPr>
            <a:r>
              <a:t>1  AI Tutor: plain text thống nhất; không Markdown/dấu *; giữ đúng thứ tự lịch sử.
2  Quiz generator: ưu tiên ô “Phần muốn ôn” khi nội dung có căn cứ trong slide.
RETEST: cả hai tiêu chí đạt — Phạm Tiến Anh.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7187534A-A2E7-478E-AE0B-487C6563C9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663440"/>
            <a:ext cx="82296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>
            <a:spAutoFit/>
          </a:bodyPr>
          <a:lstStyle xmlns:a="http://schemas.openxmlformats.org/drawingml/2006/main"/>
          <a:p xmlns:a="http://schemas.openxmlformats.org/drawingml/2006/main">
            <a:pPr>
              <a:buNone/>
              <a:defRPr sz="1000" i="1">
                <a:solidFill>
                  <a:srgbClr val="6B7280"/>
                </a:solidFill>
              </a:defRPr>
            </a:pPr>
            <a:r>
              <a:t>validation/feedback-log.md</a:t>
            </a:r>
          </a:p>
        </p:txBody>
      </p:sp>
    </p:spTree>
    <p:extLst>
      <p:ext uri="{BB962C8B-B14F-4D97-AF65-F5344CB8AC3E}">
        <p14:creationId xmlns:p14="http://schemas.microsoft.com/office/powerpoint/2010/main" val="285604443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02809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0359DC64-1635-4F75-B9CC-ED324766FB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57200"/>
            <a:ext cx="8229600" cy="762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>
            <a:spAutoFit/>
          </a:bodyPr>
          <a:lstStyle xmlns:a="http://schemas.openxmlformats.org/drawingml/2006/main"/>
          <a:p xmlns:a="http://schemas.openxmlformats.org/drawingml/2006/main">
            <a:pPr>
              <a:buNone/>
              <a:defRPr sz="4400" b="1">
                <a:solidFill>
                  <a:srgbClr val="FFFFFF"/>
                </a:solidFill>
              </a:defRPr>
            </a:pPr>
            <a:r>
              <a:t>Nếu có thêm 1 tuần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3C39924D-5F81-4A6B-9E44-0BE426B988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371600"/>
            <a:ext cx="8229600" cy="3962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>
            <a:spAutoFit/>
          </a:bodyPr>
          <a:lstStyle xmlns:a="http://schemas.openxmlformats.org/drawingml/2006/main"/>
          <a:p xmlns:a="http://schemas.openxmlformats.org/drawingml/2006/main">
            <a:pPr>
              <a:buNone/>
              <a:defRPr sz="2000" b="1">
                <a:solidFill>
                  <a:srgbClr val="FFFFFF"/>
                </a:solidFill>
              </a:defRPr>
            </a:pPr>
            <a:r>
              <a:t>Ưu tiên tiếp theo từ feedback và failure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A9C8FA40-0C5E-4461-BCCC-EBF2444E42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920240"/>
            <a:ext cx="8229600" cy="1463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>
            <a:spAutoFit/>
          </a:bodyPr>
          <a:lstStyle xmlns:a="http://schemas.openxmlformats.org/drawingml/2006/main"/>
          <a:p xmlns:a="http://schemas.openxmlformats.org/drawingml/2006/main">
            <a:pPr>
              <a:buNone/>
              <a:defRPr sz="1500">
                <a:solidFill>
                  <a:srgbClr val="FFFFFF"/>
                </a:solidFill>
              </a:defRPr>
            </a:pPr>
            <a:r>
              <a:t>1. Thêm integration test cho prompt priority và chat plain-text.
2. Làm phần thông tin tạo quiz dễ hiểu hơn; đổi tên và cải thiện typography.
3. Chia học liệu theo buổi; bổ sung OCR và holdout cases.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D2ED223D-F600-49B3-AB7A-418E7F179E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566160"/>
            <a:ext cx="8229600" cy="3962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>
            <a:spAutoFit/>
          </a:bodyPr>
          <a:lstStyle xmlns:a="http://schemas.openxmlformats.org/drawingml/2006/main"/>
          <a:p xmlns:a="http://schemas.openxmlformats.org/drawingml/2006/main">
            <a:pPr>
              <a:buNone/>
              <a:defRPr sz="2000" b="1">
                <a:solidFill>
                  <a:srgbClr val="FFFFFF"/>
                </a:solidFill>
              </a:defRPr>
            </a:pPr>
            <a:r>
              <a:t>Bài học lớn nhất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F1545395-EC7A-49CE-97D0-59E3926CAE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114800"/>
            <a:ext cx="8229600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>
            <a:spAutoFit/>
          </a:bodyPr>
          <a:lstStyle xmlns:a="http://schemas.openxmlformats.org/drawingml/2006/main"/>
          <a:p xmlns:a="http://schemas.openxmlformats.org/drawingml/2006/main">
            <a:pPr>
              <a:buNone/>
              <a:defRPr sz="1400">
                <a:solidFill>
                  <a:srgbClr val="FFFFFF"/>
                </a:solidFill>
              </a:defRPr>
            </a:pPr>
            <a:r>
              <a:t>Baseline 50% không phải lý do hạ chuẩn. Nhóm siết output contract, schema và grounding rồi chạy lại toàn bộ 22 case. Sửa hệ thống đo, không sửa số liệu.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24C83A9F-69FE-46CC-8EF0-34B45C252B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663440"/>
            <a:ext cx="82296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>
            <a:spAutoFit/>
          </a:bodyPr>
          <a:lstStyle xmlns:a="http://schemas.openxmlformats.org/drawingml/2006/main"/>
          <a:p xmlns:a="http://schemas.openxmlformats.org/drawingml/2006/main">
            <a:pPr>
              <a:buNone/>
              <a:defRPr sz="1000" i="1">
                <a:solidFill>
                  <a:srgbClr val="F3F4F6"/>
                </a:solidFill>
              </a:defRPr>
            </a:pPr>
          </a:p>
        </p:txBody>
      </p:sp>
    </p:spTree>
    <p:extLst>
      <p:ext uri="{BB962C8B-B14F-4D97-AF65-F5344CB8AC3E}">
        <p14:creationId xmlns:p14="http://schemas.microsoft.com/office/powerpoint/2010/main" val="1865274460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2026-07-31T03:16:58.5520000Z</dcterms:created>
  <dcterms:modified xsi:type="dcterms:W3CDTF">2026-07-31T03:16:58.5520000Z</dcterms:modified>
</coreProperties>
</file>